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CB603-14BA-AE78-61F4-42B2757617FB}" v="2" dt="2026-08-05T23:12:27.582"/>
    <p1510:client id="{669FECFD-B450-27CA-E57B-F79AD1DE6976}" v="9" dt="2026-08-05T19:42:49.509"/>
    <p1510:client id="{A2544345-2FAE-B1A0-F8E9-F221142AA5E3}" v="120" dt="2026-08-04T22:56:15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5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84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28016" cy="128016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280160" y="100584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128016" cy="128016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463040" y="3108960"/>
            <a:ext cx="128016" cy="128016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103120" y="356616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05840" y="4663440"/>
            <a:ext cx="128016" cy="128016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737360" y="438912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377440" y="493776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22960" y="5486400"/>
            <a:ext cx="128016" cy="128016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1554480" y="576072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194560" y="539496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2377440" cy="0"/>
          </a:xfrm>
          <a:prstGeom prst="line">
            <a:avLst/>
          </a:prstGeom>
          <a:noFill/>
          <a:ln w="19050">
            <a:solidFill>
              <a:srgbClr val="3A4E7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463040" y="914400"/>
            <a:ext cx="0" cy="5029200"/>
          </a:xfrm>
          <a:prstGeom prst="line">
            <a:avLst/>
          </a:prstGeom>
          <a:noFill/>
          <a:ln w="19050">
            <a:solidFill>
              <a:srgbClr val="3A4E7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56616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MULTIVARIADOS EN CIENCIA DE DATOS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3774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No Supervisados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3566160" y="3703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dimensión y agrupamiento: PCA, K-means y Método de Ward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566160" y="4617720"/>
            <a:ext cx="608076" cy="384048"/>
          </a:xfrm>
          <a:prstGeom prst="roundRect">
            <a:avLst>
              <a:gd name="adj" fmla="val 50000"/>
            </a:avLst>
          </a:prstGeom>
          <a:solidFill>
            <a:srgbClr val="1D3A63"/>
          </a:solidFill>
          <a:ln w="12700">
            <a:solidFill>
              <a:srgbClr val="2E4E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566160" y="4617720"/>
            <a:ext cx="6080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75404" y="4617720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1D3A63"/>
          </a:solidFill>
          <a:ln w="12700">
            <a:solidFill>
              <a:srgbClr val="2E4E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375404" y="4617720"/>
            <a:ext cx="9921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568696" y="461772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1D3A63"/>
          </a:solidFill>
          <a:ln w="12700">
            <a:solidFill>
              <a:srgbClr val="2E4E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568696" y="461772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Ward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análisis en Machine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07128" y="2212673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907128" y="2212673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3309953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148840" y="3309953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148840" y="4361513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194560" y="4361513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3904313"/>
            <a:ext cx="768096" cy="45720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85032" y="4361513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730752" y="4361513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2807033"/>
            <a:ext cx="2499512" cy="502920"/>
          </a:xfrm>
          <a:prstGeom prst="line">
            <a:avLst/>
          </a:prstGeom>
          <a:noFill/>
          <a:ln w="1905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178040" y="3309953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178040" y="3309953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78040" y="4361513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223760" y="4361513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clúster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95360" y="3904313"/>
            <a:ext cx="768096" cy="45720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8714232" y="4361513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759952" y="4361513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A658A3C8-6096-C344-8B15-6441F0EC43C5}"/>
              </a:ext>
            </a:extLst>
          </p:cNvPr>
          <p:cNvSpPr/>
          <p:nvPr/>
        </p:nvSpPr>
        <p:spPr>
          <a:xfrm flipH="1">
            <a:off x="3950208" y="2800937"/>
            <a:ext cx="2137799" cy="515112"/>
          </a:xfrm>
          <a:prstGeom prst="line">
            <a:avLst/>
          </a:prstGeom>
          <a:noFill/>
          <a:ln w="1905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81E502D-3689-C94E-11AC-74A6ED0D8723}"/>
              </a:ext>
            </a:extLst>
          </p:cNvPr>
          <p:cNvSpPr/>
          <p:nvPr/>
        </p:nvSpPr>
        <p:spPr>
          <a:xfrm flipH="1">
            <a:off x="2916936" y="3911933"/>
            <a:ext cx="637032" cy="469392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AA76FCF6-DF6F-229C-E505-F4F1AE56819C}"/>
              </a:ext>
            </a:extLst>
          </p:cNvPr>
          <p:cNvSpPr/>
          <p:nvPr/>
        </p:nvSpPr>
        <p:spPr>
          <a:xfrm flipH="1">
            <a:off x="7946136" y="3911933"/>
            <a:ext cx="637032" cy="44196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Estandarizar o Normalizar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 PCA o clustering, las variables deben llevarse a una </a:t>
            </a:r>
            <a:r>
              <a:rPr lang="en-US" sz="13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comparable, de lo contrario, las variables con mayor varianza dominan el análisis.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20440" cy="73152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Estandarización (Z-score)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− μ) / 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0, varianza 1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Preferida cuando las variables tienen unidades distintas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opción estándar para PCA y clustering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352044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50"/>
                </a:solidFill>
                <a:latin typeface="Cambria"/>
                <a:ea typeface="Cambria"/>
                <a:cs typeface="Cambria" pitchFamily="34" charset="-120"/>
              </a:rPr>
              <a:t> (Min-Max)</a:t>
            </a:r>
            <a:endParaRPr lang="en-US" sz="1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− min) / (max − min)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7033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Reescala al rango [0, 1]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valores atípicos (outliers)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cuando se necesitan límites fijos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138160" y="2103120"/>
            <a:ext cx="3520440" cy="73152"/>
          </a:xfrm>
          <a:prstGeom prst="rect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36676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Escalado Robusto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66760" y="29260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366760" y="2926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− mediana) / IQR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7033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mediana y rango intercuartílico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Resistente a outliers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Componentes Principales (PCA)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 del PCA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Reducir la dimensión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relación entre variables, mayor capacidad de síntesis: unos pocos ejes factoriales resumen las variables originales.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individuos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gráficas resultantes muestran la forma de la "nube de individuos", permitiendo detectar patrones entre ellos.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458200" y="2331720"/>
            <a:ext cx="777240" cy="777240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5820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redundancia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 la información de variables correlacionadas, evitando duplicar la misma señal estadística.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Geométrico del PCA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9120" y="1592436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buscar un nuevo sistema de ejes tal que la mayoría de la inercia (varianza) se concentre en los primeros ejes.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el eje de máxima inercia proyectada.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ese eje equivale a hallar la dirección u que maximiza la inercia total de la nube de puntos proyectada sobre u.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32461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u: dirección del eje  ·  se maximiza la inercia total de la nube de puntos proyectada sobre el eje 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425196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949440" y="576072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680960" y="562356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7955280" y="525780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8321040" y="539496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595360" y="507492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961120" y="521208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9326880" y="489204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9692640" y="502920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058400" y="470916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0424160" y="4846320"/>
            <a:ext cx="91440" cy="9144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 flipV="1">
            <a:off x="7040880" y="4709159"/>
            <a:ext cx="3474720" cy="1142999"/>
          </a:xfrm>
          <a:prstGeom prst="line">
            <a:avLst/>
          </a:prstGeom>
          <a:noFill/>
          <a:ln w="317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229600" y="4315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u de máxima inercia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429E81C7-7125-C22B-F825-307CC317F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686" y="2018414"/>
            <a:ext cx="4066257" cy="937942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F66C2543-E138-18EE-1ECD-7C61179BF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845" y="3281742"/>
            <a:ext cx="2565890" cy="3466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MATRICIAL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Formulación Estadística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centrados: E[X] = 0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datos X de tamaño (n × p): n observaciones, p variables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</a:t>
            </a: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covarianzas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82880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492240" y="18288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covarianzas Σ es simétrica y de tamaño p × p: en la diagonal quedan las varianzas de cada variable y fuera de ella, las covarianzas entre pares de variables.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E6D849C-A01E-A5F1-0DB8-D4F4BD608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060" y="2331720"/>
            <a:ext cx="2462358" cy="79923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3691BDB-0035-F353-C191-F07855841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776" y="1847088"/>
            <a:ext cx="4099568" cy="21031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Descomposición Matricial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1655" y="16002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95351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vectores propios (eigenvectores): define las nuevas direcciones ortogonales de proyección.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82219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diagonal de valores propios (eigenvalores): cada λᵢ representa la varianza explicada por su componente.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69087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i-ésimo valor propio indica cuánta varianza total captura el i-ésimo componente principal.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E36AFAC-5B92-7574-CBEE-D1521FE93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571" y="1527048"/>
            <a:ext cx="3327550" cy="1152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912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 Geométrica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2272066"/>
            <a:ext cx="5569565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vectores propios definen nuevas direcciones ortogonales entre sí.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proyectan sobre esas nuevas direcciones: Z = X Q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de Z es un componente principal (PC1, PC2, …).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91358" y="1968136"/>
            <a:ext cx="5486400" cy="3829159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019495" y="223679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original → Espacio de componentes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flipV="1">
            <a:off x="7663542" y="3429000"/>
            <a:ext cx="0" cy="1691640"/>
          </a:xfrm>
          <a:prstGeom prst="line">
            <a:avLst/>
          </a:prstGeom>
          <a:noFill/>
          <a:ln w="16510">
            <a:solidFill>
              <a:srgbClr val="8895A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626091" y="5113891"/>
            <a:ext cx="1742149" cy="15893"/>
          </a:xfrm>
          <a:prstGeom prst="line">
            <a:avLst/>
          </a:prstGeom>
          <a:noFill/>
          <a:ln w="16510">
            <a:solidFill>
              <a:srgbClr val="8895A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368241" y="4937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06786" y="313726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7663542" y="4288536"/>
            <a:ext cx="1554478" cy="825355"/>
          </a:xfrm>
          <a:prstGeom prst="line">
            <a:avLst/>
          </a:prstGeom>
          <a:noFill/>
          <a:ln w="3048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 flipH="1" flipV="1">
            <a:off x="7014318" y="3816314"/>
            <a:ext cx="640080" cy="1297577"/>
          </a:xfrm>
          <a:prstGeom prst="line">
            <a:avLst/>
          </a:prstGeom>
          <a:noFill/>
          <a:ln w="30480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 lang="es-CO" dirty="0"/>
          </a:p>
        </p:txBody>
      </p:sp>
      <p:sp>
        <p:nvSpPr>
          <p:cNvPr id="13" name="Text 11"/>
          <p:cNvSpPr/>
          <p:nvPr/>
        </p:nvSpPr>
        <p:spPr>
          <a:xfrm>
            <a:off x="9263742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36010" y="35890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0742" y="484632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395062" y="457200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8669382" y="470916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852262" y="429768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9035142" y="448056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218022" y="411480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846422" y="457200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8194772" y="420624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8486502" y="3977640"/>
            <a:ext cx="82296" cy="82296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Paso a Paso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0" cy="3364992"/>
          </a:xfrm>
          <a:prstGeom prst="line">
            <a:avLst/>
          </a:prstGeom>
          <a:noFill/>
          <a:ln w="317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640080" cy="640080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1463040" y="1709928"/>
            <a:ext cx="96926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737360" y="1709928"/>
            <a:ext cx="9235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Centrar los datos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 la media de cada variable.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32888"/>
            <a:ext cx="640080" cy="640080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2532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11" name="Shape 9"/>
          <p:cNvSpPr/>
          <p:nvPr/>
        </p:nvSpPr>
        <p:spPr>
          <a:xfrm>
            <a:off x="1463040" y="2551176"/>
            <a:ext cx="96926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737360" y="2551176"/>
            <a:ext cx="9235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matriz Σ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covarianzas (o correlaciones si se estandarizó).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374136"/>
            <a:ext cx="640080" cy="64008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" y="3374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5" name="Shape 13"/>
          <p:cNvSpPr/>
          <p:nvPr/>
        </p:nvSpPr>
        <p:spPr>
          <a:xfrm>
            <a:off x="1463040" y="3392424"/>
            <a:ext cx="96926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737360" y="3392424"/>
            <a:ext cx="9235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valores y vectores propios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en R como pca$rotation.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215384"/>
            <a:ext cx="640080" cy="640080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94360" y="42153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20" dirty="0"/>
          </a:p>
        </p:txBody>
      </p:sp>
      <p:sp>
        <p:nvSpPr>
          <p:cNvPr id="19" name="Shape 17"/>
          <p:cNvSpPr/>
          <p:nvPr/>
        </p:nvSpPr>
        <p:spPr>
          <a:xfrm>
            <a:off x="1463040" y="4233672"/>
            <a:ext cx="96926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737360" y="4233672"/>
            <a:ext cx="9235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los λᵢ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mayor a menor varianza explicada.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5056632"/>
            <a:ext cx="640080" cy="64008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94360" y="5056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20" dirty="0"/>
          </a:p>
        </p:txBody>
      </p:sp>
      <p:sp>
        <p:nvSpPr>
          <p:cNvPr id="23" name="Shape 21"/>
          <p:cNvSpPr/>
          <p:nvPr/>
        </p:nvSpPr>
        <p:spPr>
          <a:xfrm>
            <a:off x="1463040" y="5074920"/>
            <a:ext cx="96926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737360" y="5074920"/>
            <a:ext cx="9235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los datos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X Q → coordenadas de los componentes (pca$x).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(LOADINGS)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 de Factores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PCᵢ = aᵢ₁X₁ + aᵢ₂X₂ + ... + aᵢₚXₚ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63932" y="2889504"/>
            <a:ext cx="7733211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cargas (aᵢⱼ) indican la influencia de la variable Xⱼ sobre el componente PCᵢ.</a:t>
            </a:r>
            <a:endParaRPr lang="en-US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explicar el significado de las dimensiones latentes encontradas.</a:t>
            </a:r>
            <a:endParaRPr lang="en-US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cargas miden la relación (correlación) entre la variable Xⱼ y el componente PCᵢ.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INFORMA CADA COMPONENTE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Varianza Explicada y Contribución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854235"/>
            <a:ext cx="4846320" cy="3291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Varianza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explicada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PCᵢ:  λᵢ / </a:t>
            </a: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Σⱼλ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ⱼ</a:t>
            </a:r>
            <a:endParaRPr lang="en-US" sz="1450" dirty="0"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Se </a:t>
            </a: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visualiza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con un scree plot y la </a:t>
            </a: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varianza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acumulada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50" dirty="0"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b="1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Contribución</a:t>
            </a:r>
            <a:r>
              <a:rPr lang="en-US" sz="1450" b="1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de Xⱼ a PCᵢ: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 aᵢⱼ² / </a:t>
            </a:r>
            <a:r>
              <a:rPr lang="en-US" sz="145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Σₖa</a:t>
            </a:r>
            <a:r>
              <a:rPr lang="en-US" sz="145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ᵢₖ²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77840" y="155448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plot_sc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1640"/>
            <a:ext cx="5577840" cy="4142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BIEN SE REPRESENTA CADA PUNTO?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Representación (cos²)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qué tan bien se representan las variables o individuos en el plano de componentes elegido.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cercanos a 1 indican una excelente representación en ese eje.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 decidir cuántos y cuáles componentes interpretar con confianza.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61613" y="160020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de correlación de variables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69480" y="2286000"/>
            <a:ext cx="3383280" cy="3383280"/>
          </a:xfrm>
          <a:prstGeom prst="ellipse">
            <a:avLst/>
          </a:prstGeom>
          <a:ln w="190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269480" y="3992879"/>
            <a:ext cx="338328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8900159" y="2306422"/>
            <a:ext cx="0" cy="338328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 flipV="1">
            <a:off x="8900158" y="3212972"/>
            <a:ext cx="1297575" cy="759475"/>
          </a:xfrm>
          <a:prstGeom prst="line">
            <a:avLst/>
          </a:prstGeom>
          <a:noFill/>
          <a:ln w="2794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127135" y="3049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8900158" y="2508066"/>
            <a:ext cx="552750" cy="1464379"/>
          </a:xfrm>
          <a:prstGeom prst="line">
            <a:avLst/>
          </a:prstGeom>
          <a:noFill/>
          <a:ln w="27940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315749" y="23064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7700306" y="3972448"/>
            <a:ext cx="1188032" cy="338296"/>
          </a:xfrm>
          <a:prstGeom prst="line">
            <a:avLst/>
          </a:prstGeom>
          <a:noFill/>
          <a:ln w="27940">
            <a:solidFill>
              <a:srgbClr val="FFB40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472782" y="414938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7767654" y="3131113"/>
            <a:ext cx="1132504" cy="820912"/>
          </a:xfrm>
          <a:prstGeom prst="line">
            <a:avLst/>
          </a:prstGeom>
          <a:noFill/>
          <a:ln w="27940">
            <a:solidFill>
              <a:srgbClr val="14285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578707" y="2938653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C0BB7A4-3448-6C99-AE6D-CD9C96F4D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242" y="1776101"/>
            <a:ext cx="3262279" cy="10606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CONCEPTOS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 Práctica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24328" cy="82296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dimensiones, no correlacionadas entre sí.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2424" y="219456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392424" y="2194560"/>
            <a:ext cx="2624328" cy="8229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575304" y="251460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75304" y="310896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relativa de cada variable original.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219456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236208" y="2194560"/>
            <a:ext cx="2624328" cy="82296"/>
          </a:xfrm>
          <a:prstGeom prst="rect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19088" y="251460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9088" y="310896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variables dominan cada componente.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9992" y="219456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9079992" y="2194560"/>
            <a:ext cx="2624328" cy="82296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262872" y="251460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62872" y="310896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representación de cada punto.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Práctico: PCA en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217920" cy="4709160"/>
          </a:xfrm>
          <a:prstGeom prst="roundRect">
            <a:avLst>
              <a:gd name="adj" fmla="val 1165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77824" y="1655064"/>
            <a:ext cx="100584" cy="100584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42416" y="1655064"/>
            <a:ext cx="100584" cy="100584"/>
          </a:xfrm>
          <a:prstGeom prst="ellipse">
            <a:avLst/>
          </a:prstGeom>
          <a:solidFill>
            <a:srgbClr val="00C4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Cargar datos y aplicar PCA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data(iris)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iris[, 1:4]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&lt;- prcomp(X, center = TRUE, scale. = TRUE)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summary(pca)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Vectores propios (cargas)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pca$rotation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Coordenadas de los individuos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head(pca$x)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Varianza explicada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var_exp &lt;- pca$sdev^2 / sum(pca$sdev^2)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Visualización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library(factoextra)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fviz_pca_biplot(pca, habillage = iris$Species,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addEllipses = TRUE)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508760"/>
            <a:ext cx="4572000" cy="4709160"/>
          </a:xfrm>
          <a:prstGeom prst="roundRect">
            <a:avLst>
              <a:gd name="adj" fmla="val 1600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tiene 4 variables numéricas (largo/ancho de sépalo y pétalo).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 = TRUE estandariza antes de calcular el PCA.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 componentes se suele explicar más del 95% de la varianza.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biplot separa claramente las especies de flores en el plano PC1–PC2.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pca$rotation muestra qué variables cargan más en cada componente.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Círculo de Correlación y Contribución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1371600"/>
        </p:xfrm>
        <a:graphic>
          <a:graphicData uri="http://schemas.openxmlformats.org/drawingml/2006/table">
            <a:tbl>
              <a:tblPr/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 (carga)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 (carga)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cos² (PC1+PC2)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PC1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PC2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Sepal.Length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Sepal.Width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Petal.Length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Petal.Width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Image 0" descr="/home/claude/plot_pca_corr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8" y="3063240"/>
            <a:ext cx="4041648" cy="3429000"/>
          </a:xfrm>
          <a:prstGeom prst="rect">
            <a:avLst/>
          </a:prstGeom>
        </p:spPr>
      </p:pic>
      <p:pic>
        <p:nvPicPr>
          <p:cNvPr id="6" name="Image 1" descr="/home/claude/plot_pca_contri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063240"/>
            <a:ext cx="4041648" cy="3429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25628" y="6558861"/>
            <a:ext cx="10900018" cy="251460"/>
          </a:xfrm>
          <a:prstGeom prst="roundRect">
            <a:avLst>
              <a:gd name="adj" fmla="val 14545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3"/>
          <p:cNvSpPr/>
          <p:nvPr/>
        </p:nvSpPr>
        <p:spPr>
          <a:xfrm>
            <a:off x="717837" y="6433131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Petal.Length y Petal.Width dominan PC1 (juntas ~66% de contribución); Sepal.Width domina PC2 (85%) — coherente con las direcciones de las flechas en el círculo.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PCA en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77824" y="1655064"/>
            <a:ext cx="100584" cy="100584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42416" y="1655064"/>
            <a:ext cx="100584" cy="100584"/>
          </a:xfrm>
          <a:prstGeom prst="ellipse">
            <a:avLst/>
          </a:prstGeom>
          <a:solidFill>
            <a:srgbClr val="00C4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5120640" cy="4206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&gt; summary(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pca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                    PC1   PC2   PC3   PC4</a:t>
            </a:r>
            <a:endParaRPr lang="en-US" sz="125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deviation   1.714  0.959  0.384  0.144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Proportion of Var  0.730  0.229  0.037  0.005</a:t>
            </a:r>
            <a:endParaRPr lang="en-US" sz="12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Cumulative Prop    0.730  0.958  0.995  1.000</a:t>
            </a:r>
            <a:endParaRPr lang="en-US" sz="125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&gt; 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pca$rotation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[, 1:2]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               PC1     PC2</a:t>
            </a:r>
            <a:endParaRPr lang="en-US" sz="125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Sepal.Length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     0.521   0.377</a:t>
            </a:r>
            <a:endParaRPr lang="en-US" sz="12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Sepal.Width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     -0.269   0.923</a:t>
            </a:r>
            <a:endParaRPr lang="en-US" sz="12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Petal.Length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     0.580   0.024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Petal.Width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  0.565   0.067</a:t>
            </a:r>
            <a:endParaRPr lang="en-US" sz="12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&gt; head(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pca$x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[, 1:2])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     PC1     PC2</a:t>
            </a:r>
            <a:endParaRPr lang="en-US" sz="125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-2.265   0.480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-2.081  -0.674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-2.364  -0.342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-2.299  -0.597</a:t>
            </a:r>
            <a:endParaRPr lang="en-US" sz="1250" dirty="0"/>
          </a:p>
        </p:txBody>
      </p:sp>
      <p:pic>
        <p:nvPicPr>
          <p:cNvPr id="9" name="Image 0" descr="/home/claude/plot_pca_bi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701" y="1258453"/>
            <a:ext cx="5349240" cy="42885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9360" y="5870448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6492240" y="587044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y PC2 explican el 95.8% de la varianza. El biplot separa claramente las 3 especies.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Clustering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82296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no jerárquicos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Producen una sola partición del conjunto de datos.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debe fijar el número de clusters (K) antes de correr el algoritmo.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computacionalmente eficientes.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983480"/>
            <a:ext cx="4709160" cy="640080"/>
          </a:xfrm>
          <a:prstGeom prst="roundRect">
            <a:avLst>
              <a:gd name="adj" fmla="val 50000"/>
            </a:avLst>
          </a:prstGeom>
          <a:solidFill>
            <a:srgbClr val="00A8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K-means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8229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jerárquicos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 una estructura en forma de árbol (dendrograma).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requieren fijar K inicialmente.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más interpretables, pero más costosos computacionalmente.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0" y="4983480"/>
            <a:ext cx="4709160" cy="6400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83680" y="49834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Ward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NO JERÁRQUICA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K-means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eligen K centroides iniciales (aleatorios o predefinidos).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se asigna al centroide más cercano.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 cada centroide como el promedio de sus puntos.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hasta que las asignaciones ya no cambian (convergencia).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la suma de distancias al cuadrado dentro de cada cluster (WCSS).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41264" y="1211580"/>
            <a:ext cx="6556248" cy="4434840"/>
          </a:xfrm>
          <a:prstGeom prst="roundRect">
            <a:avLst>
              <a:gd name="adj" fmla="val 1649"/>
            </a:avLst>
          </a:prstGeom>
          <a:solidFill>
            <a:srgbClr val="00B0F0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39" name="Imagen 38" descr="A screenshot of a computer&#10;&#10;Description automatically generated">
            <a:extLst>
              <a:ext uri="{FF2B5EF4-FFF2-40B4-BE49-F238E27FC236}">
                <a16:creationId xmlns:a16="http://schemas.microsoft.com/office/drawing/2014/main" id="{6A253934-FDA9-02C9-033E-864C78E581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100" t="23333" r="3543" b="25644"/>
          <a:stretch>
            <a:fillRect/>
          </a:stretch>
        </p:blipFill>
        <p:spPr>
          <a:xfrm>
            <a:off x="5852160" y="1695069"/>
            <a:ext cx="6035040" cy="35090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Práctico: K-means en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217920" cy="4709160"/>
          </a:xfrm>
          <a:prstGeom prst="roundRect">
            <a:avLst>
              <a:gd name="adj" fmla="val 1165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77824" y="1655064"/>
            <a:ext cx="100584" cy="100584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42416" y="1655064"/>
            <a:ext cx="100584" cy="100584"/>
          </a:xfrm>
          <a:prstGeom prst="ellipse">
            <a:avLst/>
          </a:prstGeom>
          <a:solidFill>
            <a:srgbClr val="00C4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Escalar variables numéricas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scale(iris[, 1:4])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Elegir K con el método del codo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library(factoextra)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fviz_nbclust(X, kmeans, method = "wss")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Ajustar K-means con K = 3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set.seed(123)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&lt;- kmeans(X, centers = 3, nstart = 25)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km$cluster   # asignación por observación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km$centers   # centroides finales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km$tot.withinss   # inercia intra-cluster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Visualizar los clusters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fviz_cluster(km, data = X, geom = "point")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508760"/>
            <a:ext cx="4572000" cy="4709160"/>
          </a:xfrm>
          <a:prstGeom prst="roundRect">
            <a:avLst>
              <a:gd name="adj" fmla="val 1600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nstart = 25 corre el algoritmo 25 veces y conserva la mejor solución.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codo (wss) ayuda a elegir un K razonable.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km$cluster asigna cada flor a uno de los 3 grupos.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iris, K = 3 suele recuperar aproximadamente las especies reales.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tot.withinss mide qué tan compactos son los clusters (menor es mejor).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K-means en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77824" y="1655064"/>
            <a:ext cx="100584" cy="100584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42416" y="1655064"/>
            <a:ext cx="100584" cy="100584"/>
          </a:xfrm>
          <a:prstGeom prst="ellipse">
            <a:avLst/>
          </a:prstGeom>
          <a:solidFill>
            <a:srgbClr val="00C4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5120640" cy="4206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&gt; table(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km$cluster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iris$Species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   </a:t>
            </a: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setosa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versicolor virginica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1   0     11  36</a:t>
            </a:r>
            <a:endParaRPr lang="en-US" sz="12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2   50    0   0</a:t>
            </a:r>
            <a:endParaRPr lang="en-US" sz="12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3   0     39  14</a:t>
            </a:r>
            <a:endParaRPr lang="en-US" sz="125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&gt; 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km$tot.withinss</a:t>
            </a:r>
            <a:endParaRPr lang="en-US" sz="1250" dirty="0" err="1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139.82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&gt; 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km$centers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   # 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espacio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estandarizado</a:t>
            </a:r>
            <a:endParaRPr lang="en-US" sz="1250" dirty="0" err="1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           </a:t>
            </a: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Sepal.L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Sepal.W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Petal.L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Petal.W</a:t>
            </a:r>
            <a:endParaRPr lang="en-US" sz="1250" dirty="0" err="1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Cluster 1  1.136   0.088   0.996  1.018</a:t>
            </a:r>
            <a:endParaRPr lang="en-US" sz="12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Cluster 2  -1.015   0.853  -1.305  -1.255</a:t>
            </a:r>
            <a:endParaRPr lang="en-US" sz="12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Cluster 3  -0.050  -0.883   0.348  0.282</a:t>
            </a:r>
            <a:endParaRPr lang="en-US" sz="1250">
              <a:latin typeface="Courier New"/>
              <a:cs typeface="Courier New"/>
            </a:endParaRPr>
          </a:p>
        </p:txBody>
      </p:sp>
      <p:pic>
        <p:nvPicPr>
          <p:cNvPr id="9" name="Image 0" descr="/home/claude/plot_k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349240" cy="42885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9360" y="5870448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6492240" y="587044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Cluster 2 recupera setosa casi perfectamente; versicolor y virginica se traslapan un poco.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JERÁRQUICO AGLOMERATIVO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de Ward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cada observación como su propio cluster.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paso, fusiona el par de clusters que produce el menor incremento en la varianza intra-cluster.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un dendrograma que resume todo el proceso de fusión.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final de clusters se elige "cortando" el árbol a una altura determinada.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0" y="16002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577840" y="1737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 ilustrativo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72084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26948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81812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854964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09828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964692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019556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0744200" y="5394960"/>
            <a:ext cx="0" cy="274320"/>
          </a:xfrm>
          <a:prstGeom prst="line">
            <a:avLst/>
          </a:prstGeom>
          <a:noFill/>
          <a:ln w="1524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172200" y="5074920"/>
            <a:ext cx="548640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172200" y="5074920"/>
            <a:ext cx="0" cy="32004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720840" y="5074920"/>
            <a:ext cx="0" cy="32004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446520" y="4663440"/>
            <a:ext cx="822960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446520" y="4663440"/>
            <a:ext cx="0" cy="41148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269480" y="4663440"/>
            <a:ext cx="0" cy="41148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7818120" y="4892040"/>
            <a:ext cx="731520" cy="0"/>
          </a:xfrm>
          <a:prstGeom prst="line">
            <a:avLst/>
          </a:prstGeom>
          <a:noFill/>
          <a:ln w="228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818120" y="4892040"/>
            <a:ext cx="0" cy="502920"/>
          </a:xfrm>
          <a:prstGeom prst="line">
            <a:avLst/>
          </a:prstGeom>
          <a:noFill/>
          <a:ln w="228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8549640" y="4892040"/>
            <a:ext cx="0" cy="502920"/>
          </a:xfrm>
          <a:prstGeom prst="line">
            <a:avLst/>
          </a:prstGeom>
          <a:noFill/>
          <a:ln w="228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9098280" y="5074920"/>
            <a:ext cx="548640" cy="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9098280" y="5074920"/>
            <a:ext cx="0" cy="32004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9646920" y="5074920"/>
            <a:ext cx="0" cy="32004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10195560" y="4892040"/>
            <a:ext cx="548640" cy="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10195560" y="4892040"/>
            <a:ext cx="0" cy="50292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10744200" y="4892040"/>
            <a:ext cx="0" cy="50292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9372600" y="4343400"/>
            <a:ext cx="1097280" cy="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9372600" y="4343400"/>
            <a:ext cx="0" cy="54864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10469880" y="4343400"/>
            <a:ext cx="0" cy="548640"/>
          </a:xfrm>
          <a:prstGeom prst="line">
            <a:avLst/>
          </a:prstGeom>
          <a:noFill/>
          <a:ln w="2286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858000" y="3794760"/>
            <a:ext cx="1325880" cy="0"/>
          </a:xfrm>
          <a:prstGeom prst="line">
            <a:avLst/>
          </a:prstGeom>
          <a:noFill/>
          <a:ln w="2286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858000" y="3794760"/>
            <a:ext cx="0" cy="868680"/>
          </a:xfrm>
          <a:prstGeom prst="line">
            <a:avLst/>
          </a:prstGeom>
          <a:noFill/>
          <a:ln w="2286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8183880" y="3794760"/>
            <a:ext cx="0" cy="868680"/>
          </a:xfrm>
          <a:prstGeom prst="line">
            <a:avLst/>
          </a:prstGeom>
          <a:noFill/>
          <a:ln w="2286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7520940" y="3017520"/>
            <a:ext cx="2400300" cy="0"/>
          </a:xfrm>
          <a:prstGeom prst="line">
            <a:avLst/>
          </a:prstGeom>
          <a:noFill/>
          <a:ln w="2286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7520940" y="3017520"/>
            <a:ext cx="0" cy="777240"/>
          </a:xfrm>
          <a:prstGeom prst="line">
            <a:avLst/>
          </a:prstGeom>
          <a:noFill/>
          <a:ln w="2286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9921240" y="3017520"/>
            <a:ext cx="0" cy="777240"/>
          </a:xfrm>
          <a:prstGeom prst="line">
            <a:avLst/>
          </a:prstGeom>
          <a:noFill/>
          <a:ln w="2286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8721090" y="3017520"/>
            <a:ext cx="0" cy="0"/>
          </a:xfrm>
          <a:prstGeom prst="line">
            <a:avLst/>
          </a:prstGeom>
          <a:noFill/>
          <a:ln w="2286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5760720" y="4114800"/>
            <a:ext cx="5669280" cy="0"/>
          </a:xfrm>
          <a:prstGeom prst="line">
            <a:avLst/>
          </a:prstGeom>
          <a:noFill/>
          <a:ln w="16510">
            <a:solidFill>
              <a:srgbClr val="0B1B33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850392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corte → 3 clusters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Práctico: Ward en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217920" cy="4709160"/>
          </a:xfrm>
          <a:prstGeom prst="roundRect">
            <a:avLst>
              <a:gd name="adj" fmla="val 1165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77824" y="1655064"/>
            <a:ext cx="100584" cy="100584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42416" y="1655064"/>
            <a:ext cx="100584" cy="100584"/>
          </a:xfrm>
          <a:prstGeom prst="ellipse">
            <a:avLst/>
          </a:prstGeom>
          <a:solidFill>
            <a:srgbClr val="00C4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Escalar variables y calcular distancias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scale(iris[, 1:4])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dist(X, method = "euclidean")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Clustering jerárquico con método de Ward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 &lt;- hclust(d, method = "ward.D2")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Dibujar el dendrograma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plot(hc, labels = FALSE, hang = -1)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rect.hclust(hc, k = 3, border = 2:4)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Cortar el árbol en 3 clusters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 &lt;- cutree(hc, k = 3)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table(grupos, iris$Species)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508760"/>
            <a:ext cx="4572000" cy="4709160"/>
          </a:xfrm>
          <a:prstGeom prst="roundRect">
            <a:avLst>
              <a:gd name="adj" fmla="val 1600"/>
            </a:avLst>
          </a:prstGeom>
          <a:solidFill>
            <a:srgbClr val="EAF3FA"/>
          </a:solidFill>
          <a:ln w="12700">
            <a:solidFill>
              <a:srgbClr val="CFE3F0"/>
            </a:solidFill>
            <a:prstDash val="solid"/>
          </a:ln>
          <a:effectLst>
            <a:outerShdw blurRad="101600" dist="381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ward.D2 usa la distancia euclidiana al cuadrado, como propone el método original.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dendrograma muestra el orden de fusión y la distancia (altura) de cada unión.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cutree(hc, k = 3) asigna cada observación a uno de los 3 grupos.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table() compara los clusters obtenidos contra las especies reales.</a:t>
            </a:r>
            <a:endParaRPr lang="en-US" sz="123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K-means, no fue necesario fijar K antes de correr el algoritmo.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Ejemplo en 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Ward en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77824" y="1655064"/>
            <a:ext cx="100584" cy="100584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42416" y="1655064"/>
            <a:ext cx="100584" cy="100584"/>
          </a:xfrm>
          <a:prstGeom prst="ellipse">
            <a:avLst/>
          </a:prstGeom>
          <a:solidFill>
            <a:srgbClr val="00C4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5120640" cy="4206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&gt; table(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cutree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hc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, k = 3), </a:t>
            </a:r>
            <a:r>
              <a:rPr lang="en-US" sz="1250" dirty="0" err="1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iris$Species</a:t>
            </a:r>
            <a:r>
              <a:rPr lang="en-US" sz="1250" dirty="0">
                <a:solidFill>
                  <a:srgbClr val="6FE3B4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   </a:t>
            </a:r>
            <a:r>
              <a:rPr lang="en-US" sz="1250" dirty="0" err="1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setosa</a:t>
            </a:r>
            <a:r>
              <a:rPr lang="en-US" sz="1250" dirty="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versicolor virginica</a:t>
            </a:r>
            <a:endParaRPr lang="en-US" sz="1250" dirty="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1   49     0        0</a:t>
            </a:r>
            <a:endParaRPr lang="en-US" sz="12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2   1      27       2</a:t>
            </a:r>
            <a:endParaRPr lang="en-US" sz="1250">
              <a:latin typeface="Courier New"/>
              <a:cs typeface="Courier New"/>
            </a:endParaRPr>
          </a:p>
          <a:p>
            <a:pPr>
              <a:lnSpc>
                <a:spcPct val="112000"/>
              </a:lnSpc>
            </a:pPr>
            <a:r>
              <a:rPr lang="en-US" sz="1250">
                <a:solidFill>
                  <a:srgbClr val="D6E4F0"/>
                </a:solidFill>
                <a:latin typeface="Courier New"/>
                <a:ea typeface="Courier New" pitchFamily="34" charset="-122"/>
                <a:cs typeface="Courier New"/>
              </a:rPr>
              <a:t>  3   0      23       48</a:t>
            </a:r>
            <a:endParaRPr lang="en-US" sz="125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# El cluster 1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aísla</a:t>
            </a: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casi</a:t>
            </a: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perfectamente</a:t>
            </a:r>
            <a:endParaRPr lang="en-US" sz="1250" dirty="0" err="1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# a la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especie</a:t>
            </a: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setosa</a:t>
            </a: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; 2 y 3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separan</a:t>
            </a: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 la</a:t>
            </a:r>
            <a:endParaRPr lang="en-US" sz="12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#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mayoría</a:t>
            </a: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 de versicolor y virginica, con</a:t>
            </a:r>
            <a:endParaRPr lang="en-US" sz="1250" dirty="0">
              <a:latin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# algo de </a:t>
            </a:r>
            <a:r>
              <a:rPr lang="en-US" sz="1250" dirty="0" err="1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traslape</a:t>
            </a:r>
            <a:r>
              <a:rPr lang="en-US" sz="1250" dirty="0">
                <a:solidFill>
                  <a:srgbClr val="8C9DB5"/>
                </a:solidFill>
                <a:latin typeface="Courier New"/>
                <a:ea typeface="Courier New" pitchFamily="34" charset="-122"/>
                <a:cs typeface="Courier New"/>
              </a:rPr>
              <a:t> entre ambas.</a:t>
            </a:r>
            <a:endParaRPr lang="en-US" sz="1250" dirty="0">
              <a:latin typeface="Courier New"/>
              <a:cs typeface="Courier New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Resultado en 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749C695-F8B1-25EB-11CB-1137CA90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76" y="1705356"/>
            <a:ext cx="5398019" cy="31488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2013</Words>
  <Application>Microsoft Office PowerPoint</Application>
  <PresentationFormat>Panorámica</PresentationFormat>
  <Paragraphs>348</Paragraphs>
  <Slides>25</Slides>
  <Notes>25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Delia Ortega Lenis</cp:lastModifiedBy>
  <cp:revision>44</cp:revision>
  <dcterms:created xsi:type="dcterms:W3CDTF">2026-08-03T13:55:09Z</dcterms:created>
  <dcterms:modified xsi:type="dcterms:W3CDTF">2026-08-06T14:17:36Z</dcterms:modified>
</cp:coreProperties>
</file>